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notesMasterIdLst>
    <p:notesMasterId r:id="rId31"/>
  </p:notesMasterIdLst>
  <p:sldIdLst>
    <p:sldId id="256" r:id="rId2"/>
    <p:sldId id="258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9" r:id="rId16"/>
    <p:sldId id="310" r:id="rId17"/>
    <p:sldId id="308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29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2383B9-15B1-4043-ACEE-27C2C7888812}">
          <p14:sldIdLst>
            <p14:sldId id="256"/>
            <p14:sldId id="258"/>
            <p14:sldId id="296"/>
          </p14:sldIdLst>
        </p14:section>
        <p14:section name="Untitled Section" id="{F124FCB3-B7D0-4907-BE85-0FDFC27AEE89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9"/>
            <p14:sldId id="310"/>
            <p14:sldId id="308"/>
            <p14:sldId id="312"/>
          </p14:sldIdLst>
        </p14:section>
        <p14:section name="2" id="{81ED1C5A-710C-4B10-A74D-38BD23AEFDE6}">
          <p14:sldIdLst>
            <p14:sldId id="313"/>
            <p14:sldId id="314"/>
            <p14:sldId id="315"/>
            <p14:sldId id="316"/>
            <p14:sldId id="317"/>
          </p14:sldIdLst>
        </p14:section>
        <p14:section name="Untitled Section" id="{6BD3DB1E-18A9-4EAF-853A-7B58AB0375D4}">
          <p14:sldIdLst>
            <p14:sldId id="318"/>
            <p14:sldId id="319"/>
            <p14:sldId id="320"/>
            <p14:sldId id="321"/>
            <p14:sldId id="322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F05CE-0232-48A3-9941-BB27E323B820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2D51A-1EAA-4B54-98D5-CA4C12238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7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12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56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55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24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63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48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80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06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6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41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47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0B0B-4CA5-438D-B038-610E5C3D1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546" y="217414"/>
            <a:ext cx="10058400" cy="1123114"/>
          </a:xfrm>
        </p:spPr>
        <p:txBody>
          <a:bodyPr>
            <a:normAutofit fontScale="90000"/>
          </a:bodyPr>
          <a:lstStyle/>
          <a:p>
            <a:r>
              <a:rPr lang="en-US" dirty="0"/>
              <a:t>CREDIT EDA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37A42-D90D-42E9-9DC7-BEFEC045D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8452" y="5671672"/>
            <a:ext cx="3220277" cy="447261"/>
          </a:xfrm>
        </p:spPr>
        <p:txBody>
          <a:bodyPr>
            <a:normAutofit fontScale="92500"/>
          </a:bodyPr>
          <a:lstStyle/>
          <a:p>
            <a:r>
              <a:rPr lang="en-US" dirty="0"/>
              <a:t>By SAGAR saywankar</a:t>
            </a:r>
          </a:p>
        </p:txBody>
      </p:sp>
    </p:spTree>
    <p:extLst>
      <p:ext uri="{BB962C8B-B14F-4D97-AF65-F5344CB8AC3E}">
        <p14:creationId xmlns:p14="http://schemas.microsoft.com/office/powerpoint/2010/main" val="248231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2E3D-2B62-4094-BD69-B280B3EB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4739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Gender based comparison 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               (Defaulters &amp; non-Defaulters)</a:t>
            </a:r>
            <a:r>
              <a:rPr lang="en-US" sz="3200" dirty="0">
                <a:solidFill>
                  <a:srgbClr val="FFFFFF"/>
                </a:solidFill>
              </a:rPr>
              <a:t>target 0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63D9E-A069-41E4-B5F2-C2E2FD003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618" y="1875920"/>
            <a:ext cx="4937760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Observations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There are more female, to opt for credits.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As compared to female candidate, male tend to take less loans.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Given that the female candidates are higher in value to opt for loans, they are more when repaying the loan than male too.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But also the female category tends to go on credit default more than male.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Female values defaulting on loan is less than the ones repaying the loans.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Male values defaulting the loan is slightly more than male values paying the loan.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2F9600-BA30-46D4-8664-EB591A372BE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378" y="1845734"/>
            <a:ext cx="7137623" cy="279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0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1AD3-3BAB-446B-8099-B35AA064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Income Range based on Gender</a:t>
            </a:r>
            <a:br>
              <a:rPr lang="en-US" dirty="0"/>
            </a:br>
            <a:r>
              <a:rPr lang="en-US" sz="4800" dirty="0">
                <a:solidFill>
                  <a:schemeClr val="tx1"/>
                </a:solidFill>
              </a:rPr>
              <a:t>(Defaulters &amp; non-Defaulters)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0704D-014A-4A79-9CCB-B9E2C29BD9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Observation: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Male with lower income range tends to default less than female. (50000-225000).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Female with less income range (50000-225000) tends to default more than male but also pays the credit more than males..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Male having more income defaults more.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hights default ratio of male &amp; female combined is at income range of 125000-150000.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Male having higher salary pays more credit.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594AA764-E68B-453B-AB3E-5FEF17D486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087" y="3857414"/>
            <a:ext cx="4937125" cy="19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AC452D8C-B1BE-4757-8B71-6BBAFF4B3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087" y="1737360"/>
            <a:ext cx="4937760" cy="191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21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81EF-50F6-41C3-B34C-A502DDA8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Contract Type</a:t>
            </a:r>
            <a:br>
              <a:rPr lang="en-US" dirty="0"/>
            </a:br>
            <a:r>
              <a:rPr lang="en-US" dirty="0"/>
              <a:t>(Defaulter &amp; non Defaulter)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CEE1-2349-4E9D-A2B0-230F5E86FD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Observations: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There are more number of applicants who chose cash loans as their contact type.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Very few applicants choose Revolving loans as their contract type.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People to default on cash loans are less than who pays the cash loans.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People who default on Revolving loans are almost same with people who pays revolving loans.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269D9CB-2A9C-49F6-92A3-C0F734B1015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47863"/>
            <a:ext cx="2818887" cy="392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D4E3ACF-9635-48E9-BE41-05BC7AF70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887" y="1947863"/>
            <a:ext cx="2976562" cy="392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551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BF3B4-068C-4A59-B315-AE59B4C0F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4165600"/>
            <a:ext cx="10057448" cy="2209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Observation: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 The age group of 30-40 are highest to default in each income range.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People with age between 60-70 defaults less than others.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People with age between 30-40 &amp; income of 125000-150000 are highest to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People with age between 60-70 &amp; income more than 350000+ are lowest to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People with age between 20-30 &amp; income between 100000-125000 are more likely to default compared to people with age of 40-50 in same income range.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IN" sz="1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D20F92-62A3-4C27-A40E-4C972E38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 algn="ctr"/>
            <a:r>
              <a:rPr lang="en-US" dirty="0"/>
              <a:t>Age vs Income</a:t>
            </a:r>
            <a:br>
              <a:rPr lang="en-US" dirty="0"/>
            </a:br>
            <a:r>
              <a:rPr lang="en-US" dirty="0"/>
              <a:t>(Defaulter &amp; non Defaulter)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276B4F4-F95E-4355-8F75-C58B3BA1AB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6637" y="1736724"/>
            <a:ext cx="10057448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7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13E4E-7E6A-49FD-9474-1257D198F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4182" y="3429000"/>
            <a:ext cx="11183620" cy="2440094"/>
          </a:xfrm>
        </p:spPr>
        <p:txBody>
          <a:bodyPr>
            <a:normAutofit/>
          </a:bodyPr>
          <a:lstStyle/>
          <a:p>
            <a:r>
              <a:rPr lang="en-US" sz="1500" dirty="0"/>
              <a:t>Observation: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 people with age range from 30-20 &amp; 40-50 and with lower to average income range pays credit more than other age groups with same income range.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In all the income range, people within age 60-70 are maximum non defaulters if they earn 125000-150000.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Least People within age of 20-30 who earn 450000-475000 tend to not default. Maximum people of same age range and </a:t>
            </a:r>
            <a:r>
              <a:rPr lang="en-US" sz="1500" dirty="0" err="1"/>
              <a:t>notto</a:t>
            </a:r>
            <a:r>
              <a:rPr lang="en-US" sz="1500" dirty="0"/>
              <a:t> default lies between income range of 100000-125000.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More the income range less the people of all age groups to default.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5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F43C1AB-2A9F-4964-BE26-E5066E061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1" y="0"/>
            <a:ext cx="1118362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6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4BB0-039C-4FFB-ACD9-D2AA9798B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8499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Income type vs Contract type</a:t>
            </a:r>
            <a:b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(Defaulter &amp; non Defaulter)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AAFAC-282F-4CF3-86BF-E21EB9EB4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900" y="1417320"/>
            <a:ext cx="5946140" cy="4881880"/>
          </a:xfrm>
        </p:spPr>
        <p:txBody>
          <a:bodyPr>
            <a:normAutofit/>
          </a:bodyPr>
          <a:lstStyle/>
          <a:p>
            <a:r>
              <a:rPr lang="en-US" sz="1500" dirty="0"/>
              <a:t>Observations: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State servant, Working class and commercial associates are highest to avail Cash loan contract as well as revolving Loans.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Students are found lowest compared to avail Cash and Revolving contract loan.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Pensioner and businessman do not opt for cash loan and are only indulged in revolving loans.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women with maternity leave only opt for revolving loan contract.</a:t>
            </a:r>
            <a:endParaRPr lang="en-IN" sz="15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Working class are highest to default on cash loans as well as revolving loans followed by commercial associates.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State servants are less likely to default on revolving loan, but are also lowest in defaulting on cash loans.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/>
              <a:t>students, pensioners ,businessmen and maternity leave people are less likely to default.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3FB8B058-B6BA-4EA4-AD4F-763711A60DA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62" y="1371600"/>
            <a:ext cx="6035038" cy="2420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9B33E5D1-BFC6-43B8-95EF-BCD2FF56A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3878262"/>
            <a:ext cx="6148559" cy="242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4AA2-D43F-458D-A6D5-0C1FE08EA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829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Organization Type</a:t>
            </a:r>
            <a:b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(Defaulter &amp; non Defaulter)</a:t>
            </a:r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B81291D-46BE-47C8-83B6-19D5E67FD5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97" y="4229100"/>
            <a:ext cx="12228877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9214B5E-7F02-4A32-9069-2777916A7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97" y="1378227"/>
            <a:ext cx="12198397" cy="250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635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BE1706-45D5-4348-88B6-330081D20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793461"/>
            <a:ext cx="12192000" cy="2654300"/>
          </a:xfrm>
        </p:spPr>
        <p:txBody>
          <a:bodyPr>
            <a:normAutofit/>
          </a:bodyPr>
          <a:lstStyle/>
          <a:p>
            <a:r>
              <a:rPr lang="en-US" dirty="0"/>
              <a:t>Observations: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Business entity Type 3, Self employed, Other, Medicine and ‘Government are among highest to avail loan.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Industry type 8,type 6, type 10, religion and trade type 5,trade type 4 do not see more interest in availing credit.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business entity type 3 and self employed are highest to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industry type 13 and 8, trade type 5 and 4, religion are lowest to default.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8258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6F6D-216D-4AB3-BC2C-C0A59046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-176739"/>
            <a:ext cx="10058400" cy="1450757"/>
          </a:xfrm>
        </p:spPr>
        <p:txBody>
          <a:bodyPr/>
          <a:lstStyle/>
          <a:p>
            <a:pPr algn="ctr"/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Gender vs Credit Range</a:t>
            </a:r>
            <a:b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(Defaulter &amp; non Defaulter)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3168B-9DAE-478F-B67B-B008273C3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921564"/>
            <a:ext cx="4937761" cy="43770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Observation: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Both male &amp; female taking credit between700000-750000 tend to default less.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Male &amp; female tends to default more when their income is either too less or too more.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Female candidates tend to default more than male when higher credits are taken.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least credit range that male and female take is 700000-750000.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Female candidates are more likely to take credits than male.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Resulting in more female candidates to pay credits than male.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3404A10-3E69-44DA-B2AE-2F273828FE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329" y="3857414"/>
            <a:ext cx="7129671" cy="2441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AD2DB368-CCAF-4E6F-A4DB-CEDB0AE81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1" y="1274018"/>
            <a:ext cx="7254240" cy="2441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716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9940-DBBB-48EF-80A3-E38F4BDA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355" y="-110962"/>
            <a:ext cx="10058400" cy="1450757"/>
          </a:xfrm>
        </p:spPr>
        <p:txBody>
          <a:bodyPr/>
          <a:lstStyle/>
          <a:p>
            <a:pPr algn="ctr"/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Gender vs Age</a:t>
            </a:r>
            <a:b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(Defaulter &amp; non Defaulter)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12336-C539-4080-BF49-9780AE5F0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45733"/>
            <a:ext cx="6035039" cy="4474833"/>
          </a:xfrm>
        </p:spPr>
        <p:txBody>
          <a:bodyPr>
            <a:normAutofit/>
          </a:bodyPr>
          <a:lstStyle/>
          <a:p>
            <a:r>
              <a:rPr lang="en-US" dirty="0"/>
              <a:t>Observation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Male candidates of age 30-40 are more to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Female candidates of age 30-40 are more likely to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Male &amp; female falling in age category of 60-70 are less likely to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Male lying in age of 30-40 also are more non defaulter than any other age group.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Female in age group of 30-50 are most likely to not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Male &amp; Female older than 60 are less likely to avail loans.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72B2DB2-78D7-4FA5-AE59-C0C8B84AE17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39795"/>
            <a:ext cx="6096000" cy="234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A2416000-7521-49DF-BB37-8E5DFC415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43131"/>
            <a:ext cx="5973444" cy="247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96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E246-8D72-4C65-9C26-9E13F3BB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pPr algn="ctr"/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Education Type</a:t>
            </a:r>
            <a:b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(Defaulter &amp; non Defaulter)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E136-7D05-4171-8C7C-DC04C8854E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Observations: </a:t>
            </a:r>
            <a:endParaRPr lang="en-US" dirty="0">
              <a:solidFill>
                <a:srgbClr val="000000"/>
              </a:solidFill>
              <a:latin typeface="Helvetica Neue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Secondary/secondary special are highest to repay the loan and highest to default too.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People with higher education, lower secondary education are more to repay the loan than to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People with Academic degree are among the lowest to avail the loan and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People with incomplete higher who default are close to who are non defaulter of same education type.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3317CF6-1744-4772-9905-EEF6935C149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63" y="1450757"/>
            <a:ext cx="6035037" cy="231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ECF5AF83-5654-4846-A9F4-FB8B9F58E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3763618"/>
            <a:ext cx="6065520" cy="246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371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01B3-DC9D-414A-AFA7-5BCFC8B0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297" y="-150718"/>
            <a:ext cx="10058400" cy="1450757"/>
          </a:xfrm>
        </p:spPr>
        <p:txBody>
          <a:bodyPr/>
          <a:lstStyle/>
          <a:p>
            <a:pPr algn="ctr"/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Education Type vs Credit Range</a:t>
            </a:r>
            <a:b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(Defaulter &amp; non Defaulter)</a:t>
            </a:r>
            <a:endParaRPr lang="en-IN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DF347B6-D1D6-495C-AC98-AA04DBA62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0039"/>
            <a:ext cx="12192000" cy="2662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2820AB26-A37B-4F0A-AFF7-EA78208A0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2400"/>
            <a:ext cx="12192000" cy="24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763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49F14-8539-412B-AFA2-8DFE8096D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3670" y="1845735"/>
            <a:ext cx="10122010" cy="4023360"/>
          </a:xfrm>
        </p:spPr>
        <p:txBody>
          <a:bodyPr/>
          <a:lstStyle/>
          <a:p>
            <a:r>
              <a:rPr lang="en-US" dirty="0"/>
              <a:t>Observations:</a:t>
            </a:r>
          </a:p>
          <a:p>
            <a:pPr lvl="1"/>
            <a:r>
              <a:rPr lang="en-US" dirty="0"/>
              <a:t>People with secondary education are highest to avail credit in all the ranges.</a:t>
            </a:r>
          </a:p>
          <a:p>
            <a:pPr lvl="1"/>
            <a:r>
              <a:rPr lang="en-US" dirty="0"/>
              <a:t>People with academic degree are the least to avail the credit in all the ranges.</a:t>
            </a:r>
          </a:p>
          <a:p>
            <a:pPr lvl="1"/>
            <a:r>
              <a:rPr lang="en-US" dirty="0"/>
              <a:t>People with secondary education are more likely to default in all the ranges.</a:t>
            </a:r>
          </a:p>
          <a:p>
            <a:pPr lvl="1"/>
            <a:r>
              <a:rPr lang="en-US" dirty="0"/>
              <a:t>People with academic degree have only defaulted at the credit range of 500000-550000,750000-800000,900000+.</a:t>
            </a:r>
          </a:p>
          <a:p>
            <a:pPr lvl="1"/>
            <a:r>
              <a:rPr lang="en-US" dirty="0"/>
              <a:t>Academic degree people are less likely to default.</a:t>
            </a:r>
          </a:p>
        </p:txBody>
      </p:sp>
    </p:spTree>
    <p:extLst>
      <p:ext uri="{BB962C8B-B14F-4D97-AF65-F5344CB8AC3E}">
        <p14:creationId xmlns:p14="http://schemas.microsoft.com/office/powerpoint/2010/main" val="1646239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52DC-84B0-48B6-82D2-1357D5E9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Age vs Credit </a:t>
            </a:r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  <a:latin typeface="Calibri Light" panose="020F0302020204030204"/>
              </a:rPr>
              <a:t>R</a:t>
            </a:r>
            <a:r>
              <a:rPr kumimoji="0" lang="en-US" sz="4800" b="0" i="0" u="none" strike="noStrike" kern="1200" cap="none" spc="-5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ange</a:t>
            </a:r>
            <a:b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(Defaulter &amp; non Defaulter)</a:t>
            </a:r>
            <a:endParaRPr lang="en-IN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1D3AC2E-E974-4422-BDF3-DC9E039CF3E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6263"/>
            <a:ext cx="12192000" cy="201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5FA3676C-923F-46E8-A1C5-D20A6CA7734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68763"/>
            <a:ext cx="12192000" cy="222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829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6A12-1FDC-425C-8371-54DCCC723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10074304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Observations:</a:t>
            </a:r>
          </a:p>
          <a:p>
            <a:pPr marL="0" indent="0">
              <a:buNone/>
            </a:pPr>
            <a:r>
              <a:rPr lang="en-US" dirty="0"/>
              <a:t>People with 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 group of 30-40 are more to avail lowest credit range of 0-150000.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 group of 30-40 and 40-50 are more likely to avail more higher credits.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 group of 20-30 tends to avails the maximum credit at range of 250000-300000.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 group of 60-70 are less to get loan but does not default.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 group of 70+ does not avail credit and hence does not default as well.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487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A880-0506-4E57-BA94-91D92BE7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Family Status</a:t>
            </a:r>
            <a:b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48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(Defaulter &amp; non Defaulter)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3501-13E4-4F65-A478-4BE0B544D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4161182"/>
            <a:ext cx="12192000" cy="2182398"/>
          </a:xfrm>
        </p:spPr>
        <p:txBody>
          <a:bodyPr/>
          <a:lstStyle/>
          <a:p>
            <a:r>
              <a:rPr lang="en-US" dirty="0"/>
              <a:t>Observations: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Married people are more to pay loans and also to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Family type 'others' are less to avail loans.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Widow are less likely to default on loans.</a:t>
            </a:r>
            <a:endParaRPr lang="en-IN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8780275-7F98-4819-BF40-B3D0A172F6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7360"/>
            <a:ext cx="6035039" cy="218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F9A42BF9-87CE-4715-8C78-3841AAB02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39" y="1737360"/>
            <a:ext cx="6156961" cy="218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0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0F74E-1F29-4A26-B844-B0EF7E46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49432"/>
          </a:xfrm>
        </p:spPr>
        <p:txBody>
          <a:bodyPr/>
          <a:lstStyle/>
          <a:p>
            <a:r>
              <a:rPr lang="en-US" dirty="0"/>
              <a:t>Bivariate analysis for numerical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319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8AACF2-285D-448F-9E87-813EB4D11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69748"/>
          </a:xfrm>
        </p:spPr>
        <p:txBody>
          <a:bodyPr/>
          <a:lstStyle/>
          <a:p>
            <a:r>
              <a:rPr lang="en-US" dirty="0"/>
              <a:t>Credit amount </a:t>
            </a:r>
            <a:endParaRPr lang="en-IN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0399C9D3-AAB3-4257-BDE4-9FD4564793B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6480" y="1756351"/>
            <a:ext cx="4938712" cy="285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F09E18C-EB9F-499D-A6F1-088F27F9F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268" y="1756351"/>
            <a:ext cx="4937760" cy="4023360"/>
          </a:xfrm>
        </p:spPr>
        <p:txBody>
          <a:bodyPr/>
          <a:lstStyle/>
          <a:p>
            <a:r>
              <a:rPr lang="en-US" dirty="0"/>
              <a:t>observation: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can observe that most of the people who take higher amount of credit or loan tends to be defaulters.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Higher the credit amount, higher chance to go default.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Lower the credit taken lower are chances to go default on the loan.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12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3D0D-B369-40BB-A12C-082ECE10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Days last phone changed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742BF-1C5A-4429-B397-2E06A86887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observation: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Here we can observe that person who tends to default on a loan may change his phone.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Same pattern also is shown for non defaulters, people who recently changed their phone number may or may not default on the credit.</a:t>
            </a:r>
            <a:endParaRPr lang="en-IN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FFBC5E8A-F6CF-4B1D-862B-65A0E64908A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555" y="1845734"/>
            <a:ext cx="4937125" cy="266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068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6874-F251-4B9D-828A-31B66B73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Days birth(in years)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2F0FA-E201-4081-92A5-FC291DABAA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Observation: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can see that maximum of certain group of people mostly of age 28-39 are non defaulters as well as defaulters too.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So we can conclude that this particular group have max defaulters and also have max non defaulters too.</a:t>
            </a:r>
            <a:endParaRPr lang="en-IN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ADFABD11-6B13-4CB3-A2F2-2E2387B24CE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63" y="1845734"/>
            <a:ext cx="4937125" cy="276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315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154D-84AE-4144-8895-E70E7A87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Annuity Amount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1AE26-2265-4BA0-83EC-83B36F26C4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Observation: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can see the defaulters and non defaulters have the similar pattern.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Annuity amount increases between approximate 18000 to 27000.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During these growth we can see growth in defaulters rate as well as non defaulters.</a:t>
            </a:r>
            <a:endParaRPr lang="en-IN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4CBCDC68-F939-46C0-BD88-E13F505B914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555" y="1845734"/>
            <a:ext cx="4937125" cy="281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434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A7E1-0BA4-470A-A4DC-85E1EC69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Days employed for.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0A4D1-32A1-4A23-92BA-B6E395242C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observation: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people who are employed for less than 5000 days </a:t>
            </a:r>
            <a:r>
              <a:rPr lang="en-US" dirty="0" err="1"/>
              <a:t>i.e</a:t>
            </a:r>
            <a:r>
              <a:rPr lang="en-US" dirty="0"/>
              <a:t> 13 years have growing default rate with growing non default rate.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graph shows that recently employed people are more likely to default on loan.</a:t>
            </a:r>
            <a:endParaRPr lang="en-IN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9885D64F-FC32-4C8B-9031-2DF4E4EE1DA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596" y="1845734"/>
            <a:ext cx="4937125" cy="266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019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10D6-C077-4C02-AB84-FEDBF500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37" y="-13251"/>
            <a:ext cx="10058400" cy="12059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Analyzing correlation for continuous variable  (Defaulter and non Defaulter)</a:t>
            </a:r>
            <a:endParaRPr lang="en-IN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34059D4B-733D-46A7-8719-75E58DDB860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491" y="1192696"/>
            <a:ext cx="5953509" cy="323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C7A8597B-0AFC-425F-B357-4A26D1D9F98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18" y="1192697"/>
            <a:ext cx="6016173" cy="323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660232-E5BA-4C63-960E-FA0558C40AF7}"/>
              </a:ext>
            </a:extLst>
          </p:cNvPr>
          <p:cNvSpPr txBox="1"/>
          <p:nvPr/>
        </p:nvSpPr>
        <p:spPr>
          <a:xfrm>
            <a:off x="0" y="4731026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Observation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We can observe that AMT_CREDIT,GOODS_PRICE &amp; AMT_ANNUITY are highly correlated to one another in Defaulters heatmap.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AMT_CREDIT,GOODS_PRICE &amp; AMT_ANNUITY are highly correlated to one another in the above heatmap of Non defaulters too.</a:t>
            </a:r>
          </a:p>
          <a:p>
            <a:endParaRPr lang="en-US" sz="2000" dirty="0">
              <a:latin typeface="+mj-lt"/>
            </a:endParaRPr>
          </a:p>
          <a:p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0489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B81A-800C-44F6-A1B5-5A4B89413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978243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Univariate and Bivariate analysis on merged datasets.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096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305F-0B4D-421A-8B3E-1530D509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85606"/>
          </a:xfrm>
        </p:spPr>
        <p:txBody>
          <a:bodyPr>
            <a:normAutofit fontScale="90000"/>
          </a:bodyPr>
          <a:lstStyle/>
          <a:p>
            <a:r>
              <a:rPr lang="en-US" dirty="0"/>
              <a:t>Univariate analysis</a:t>
            </a:r>
            <a:br>
              <a:rPr lang="en-US" dirty="0"/>
            </a:br>
            <a:r>
              <a:rPr lang="en-US" sz="2200" dirty="0"/>
              <a:t>AMT_APPLICATION, AMT_CREDIT, AMT_GOODS_PRICE, DAYS_DECISION</a:t>
            </a:r>
            <a:endParaRPr lang="en-IN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2340F-EB72-4635-8B45-A5A937FE5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5611" y="1783868"/>
            <a:ext cx="5836389" cy="4457905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Observations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We can see that AMT_GOODS_PRICE &amp; AMT_CREDIT shows strong similar pattern, which means that credit amount was extensively used to buy goods.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Time taken to process the loan amount varies between approximate of 2 months to 30 months.</a:t>
            </a:r>
            <a:endParaRPr lang="en-IN" dirty="0">
              <a:latin typeface="+mj-lt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E90D014E-9EB6-4CC8-8273-A2AA45E228D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5791"/>
            <a:ext cx="6355611" cy="424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934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64E3-513A-469B-986D-908C8A7E6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44CBB-3C94-4385-95B6-1F8ABF4B6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121" y="1846369"/>
            <a:ext cx="5369783" cy="4023360"/>
          </a:xfrm>
        </p:spPr>
        <p:txBody>
          <a:bodyPr/>
          <a:lstStyle/>
          <a:p>
            <a:r>
              <a:rPr lang="en-US" dirty="0"/>
              <a:t>observations: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Here we can observe that people with academic degree are more likely to pay the credit and less likely to default on the credit.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People with higher education are more likely to default than others, so bank should focus less on higher education category candidates and more on candidates who have academic degree.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women tend to use more credit and hence they are more likely to default as well as more likely to not default.</a:t>
            </a:r>
            <a:br>
              <a:rPr lang="en-US" dirty="0"/>
            </a:br>
            <a:endParaRPr lang="en-IN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04E0F6F7-A853-47CA-8A22-813D5653484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235" y="1847004"/>
            <a:ext cx="5724939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041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98368-04DB-448F-AF61-E3A39B54B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8240" y="1845734"/>
            <a:ext cx="9973586" cy="4023360"/>
          </a:xfrm>
        </p:spPr>
        <p:txBody>
          <a:bodyPr/>
          <a:lstStyle/>
          <a:p>
            <a:pPr algn="ctr"/>
            <a:r>
              <a:rPr lang="en-US" sz="4000" b="1" dirty="0"/>
              <a:t>Summery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Large number of applicants are women, Based on their education type and their income range and the credit amount they can pay  the loan can be credited to them.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Male population is slightly lower to avail loan but same criteria can be applied to male to avoid defaulting.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Business Entities are highest amongst to  avail credits and also to default.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Self employed people can be checked with their education and income type to avail credits to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84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A3A0-D256-4A69-BCFA-C19010C37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53461" cy="626827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844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259</TotalTime>
  <Words>1699</Words>
  <Application>Microsoft Office PowerPoint</Application>
  <PresentationFormat>Widescreen</PresentationFormat>
  <Paragraphs>137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Helvetica Neue</vt:lpstr>
      <vt:lpstr>Wingdings</vt:lpstr>
      <vt:lpstr>Retrospect</vt:lpstr>
      <vt:lpstr>CREDIT EDA CASE STUDY</vt:lpstr>
      <vt:lpstr>Gender based comparison                 (Defaulters &amp; non-Defaulters)target 0</vt:lpstr>
      <vt:lpstr>Income Range based on Gender (Defaulters &amp; non-Defaulters)</vt:lpstr>
      <vt:lpstr>Contract Type (Defaulter &amp; non Defaulter)</vt:lpstr>
      <vt:lpstr>Age vs Income (Defaulter &amp; non Defaulter)</vt:lpstr>
      <vt:lpstr>PowerPoint Presentation</vt:lpstr>
      <vt:lpstr>Income type vs Contract type (Defaulter &amp; non Defaulter)</vt:lpstr>
      <vt:lpstr>Organization Type (Defaulter &amp; non Defaulter)</vt:lpstr>
      <vt:lpstr>PowerPoint Presentation</vt:lpstr>
      <vt:lpstr>Gender vs Credit Range (Defaulter &amp; non Defaulter)</vt:lpstr>
      <vt:lpstr>Gender vs Age (Defaulter &amp; non Defaulter)</vt:lpstr>
      <vt:lpstr>Education Type (Defaulter &amp; non Defaulter)</vt:lpstr>
      <vt:lpstr>Education Type vs Credit Range (Defaulter &amp; non Defaulter)</vt:lpstr>
      <vt:lpstr>PowerPoint Presentation</vt:lpstr>
      <vt:lpstr>Age vs Credit Range (Defaulter &amp; non Defaulter)</vt:lpstr>
      <vt:lpstr>PowerPoint Presentation</vt:lpstr>
      <vt:lpstr>Family Status (Defaulter &amp; non Defaulter)</vt:lpstr>
      <vt:lpstr>Bivariate analysis for numerical variables</vt:lpstr>
      <vt:lpstr>Credit amount </vt:lpstr>
      <vt:lpstr>Days last phone changed </vt:lpstr>
      <vt:lpstr>Days birth(in years)</vt:lpstr>
      <vt:lpstr>Annuity Amount</vt:lpstr>
      <vt:lpstr>Days employed for.</vt:lpstr>
      <vt:lpstr>Analyzing correlation for continuous variable  (Defaulter and non Defaulter)</vt:lpstr>
      <vt:lpstr>Univariate and Bivariate analysis on merged datasets.</vt:lpstr>
      <vt:lpstr>Univariate analysis AMT_APPLICATION, AMT_CREDIT, AMT_GOODS_PRICE, DAYS_DECISION</vt:lpstr>
      <vt:lpstr>Bivariate analysis</vt:lpstr>
      <vt:lpstr>PowerPoint Presentation</vt:lpstr>
      <vt:lpstr>Thank you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EDA CASE STUDY</dc:title>
  <dc:creator>sagar saywankar</dc:creator>
  <cp:lastModifiedBy>sagar saywankar</cp:lastModifiedBy>
  <cp:revision>12</cp:revision>
  <dcterms:created xsi:type="dcterms:W3CDTF">2019-06-16T18:29:35Z</dcterms:created>
  <dcterms:modified xsi:type="dcterms:W3CDTF">2022-01-25T14:33:31Z</dcterms:modified>
</cp:coreProperties>
</file>